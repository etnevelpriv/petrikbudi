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2784" y="20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EF65E9-9A7C-0CFD-2B09-E6AFFC1C6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9E372AE-844D-F5E5-4675-E92B9BC78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945C325-2D01-A082-3DD7-05BB024F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1B38BB2-2DEB-61B1-B537-0F4B03C5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AF9E677-820F-E133-9BDC-93608032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966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94CC-F8B7-A9A2-F108-76283E3A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8602BE-5249-735C-D7B1-383D9E26F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551638F-3852-8457-433F-0180D4608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CA6E73E-CEE8-07F8-9F5F-E81F7A53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B0C263-F748-6B30-0BA2-DD69AEB9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4360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7C2907-2891-0CFB-F3A4-C1163B129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56104C8-3BB3-7B89-012E-04C0A78CE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AF8E0F-EFBA-7867-19FB-2E0B5DCD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9D82ACD-9638-7E07-C015-B14C14AD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6D1D5FE-474F-10BF-3ED8-CA438617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935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E1931B-F35E-312D-B1E1-B8136D0A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336AF3-4434-91A7-E5EB-BE727F7C3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ED1301B-E062-87E6-C473-6DD0EF536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9D822A5-D918-5BAE-7C04-262BA58ED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028F4DA-30BD-0757-AA95-933DC666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25DB29E-1FFF-2ACE-FA7F-7A211019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780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EF125B-D548-6A05-705F-402A9303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97159D5-38E6-6772-38E7-D63F7886E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A1B744A-A063-E560-6668-8D9C0268A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7F344F4-9644-5D7D-21A1-45AD13099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465DC8E-222F-9F2C-0597-CEF4E6BDD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C0AF6C8-B5DE-EE85-7DF1-D7C08B2E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F11D43B-7B27-3DE2-3801-560660154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62EE429-358B-6ECE-9AFF-429E0926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705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3D270E-98E7-DC08-5026-A8120E9C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C916847-749B-D486-DE97-2F2785309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944FABB-AA9C-1F0A-B0BD-59212FE8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CDB3814-7C3B-1CF2-D92E-ACBD284A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382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33179EF-85AB-5FC6-234A-66F22CFD1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7CD2F32-28D9-A5A8-88F0-A5348526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9DF0C71-1C9E-1D45-925F-4BE6240D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627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BDA2BE-B8EE-4497-2A92-04486AD7E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356ABE-8A11-9A99-495A-A69DB4161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73399A5-71E4-3D1C-CF4A-20A6C408C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AA1C117-C8E8-D139-7D5E-6D30C7FD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3CC1E29-214F-0CC7-E1BB-C3719777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0AB47AD-97C0-CCD4-11E7-5956FCBC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448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856188-74A8-396B-187E-093E49AF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631B702-E9E9-C40B-0534-97FFF26FF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BFC0E89-5B9E-5C9C-655B-D849B841B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C4F2F01-335B-A192-1F4D-EEE0555F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ACC69A7-F764-FE26-9132-8883E8F1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9BB295A-D089-3297-1EEB-637DC8F7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9602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DA08C6-C373-6313-09DA-582D6EF0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7108553-6890-DAE3-9E84-FF9C65485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79CDC6B-5B04-13DC-9132-168FFBC5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5875A46-44D5-59F1-956E-663925D2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23C70DC-34D5-D421-2126-1FDF8DEE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3214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17FAB28-4A82-B9FC-428D-53D2E2D02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A436ED5-F3A8-C54D-B050-BA396A48E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1BB5351-BBE7-0DB5-6864-1ADD8A4B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8B4E282-14D4-C3B0-40D3-8EE3C491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A2A63BB-BACC-7275-4CBB-82250C34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359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B601342-404D-32D4-FF35-602CC887A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D235DCE-E735-366E-5A07-C37073111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387A035-71ED-D54C-2768-87743D1F7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5885A-6E88-4B75-A0CA-F02CB693AE7B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9704DB-950F-C8F2-30A9-A33A3A05F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55FCDED-3ED1-313D-1B4B-C23A08542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FABC5-023F-41DF-BACF-1470F7F66B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496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E98FD0-B8BE-33A7-7398-4FE2754D58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spc="600" dirty="0">
                <a:solidFill>
                  <a:schemeClr val="bg1"/>
                </a:solidFill>
                <a:latin typeface="Source Sans Pro (Szövegtörzs)"/>
              </a:rPr>
              <a:t>PETRIK BUDI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B53D4B0-63FC-B822-F7C5-D733492B2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b="1" spc="600" dirty="0">
                <a:solidFill>
                  <a:schemeClr val="bg1"/>
                </a:solidFill>
                <a:latin typeface="Source Sans Pro (Szövegtörzs)"/>
              </a:rPr>
              <a:t>MOSDÓ KERESŐ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4AB03C1-D050-C0D9-C6D7-FFA6D9B3494D}"/>
              </a:ext>
            </a:extLst>
          </p:cNvPr>
          <p:cNvSpPr txBox="1"/>
          <p:nvPr/>
        </p:nvSpPr>
        <p:spPr>
          <a:xfrm>
            <a:off x="169313" y="5829600"/>
            <a:ext cx="30707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Source Sans Pro (Szövegtörzs)Source Sans Pro (Szövegtörzs)"/>
              </a:rPr>
              <a:t>RASZTOVITS LEVENTE</a:t>
            </a:r>
          </a:p>
          <a:p>
            <a:r>
              <a:rPr lang="hu-HU" b="1" dirty="0">
                <a:solidFill>
                  <a:schemeClr val="bg1"/>
                </a:solidFill>
                <a:latin typeface="Source Sans Pro (Szövegtörzs)Source Sans Pro (Szövegtörzs)"/>
              </a:rPr>
              <a:t>KÖVÉR MARCELL</a:t>
            </a:r>
          </a:p>
          <a:p>
            <a:r>
              <a:rPr lang="hu-HU" sz="1400" b="1" dirty="0">
                <a:solidFill>
                  <a:schemeClr val="bg1"/>
                </a:solidFill>
                <a:latin typeface="Source Sans Pro (Szövegtörzs)Source Sans Pro (Szövegtörzs)"/>
              </a:rPr>
              <a:t>(Braun Roland)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63361F6D-2C73-8D6E-9BC5-043A9F55951A}"/>
              </a:ext>
            </a:extLst>
          </p:cNvPr>
          <p:cNvGrpSpPr/>
          <p:nvPr/>
        </p:nvGrpSpPr>
        <p:grpSpPr>
          <a:xfrm rot="13535230">
            <a:off x="9982200" y="5397491"/>
            <a:ext cx="1371600" cy="1378425"/>
            <a:chOff x="9116704" y="4244452"/>
            <a:chExt cx="1371600" cy="1378425"/>
          </a:xfrm>
        </p:grpSpPr>
        <p:sp>
          <p:nvSpPr>
            <p:cNvPr id="5" name="L alak 4">
              <a:extLst>
                <a:ext uri="{FF2B5EF4-FFF2-40B4-BE49-F238E27FC236}">
                  <a16:creationId xmlns:a16="http://schemas.microsoft.com/office/drawing/2014/main" id="{DBB280E0-73B4-EE75-2555-E2DA50ACAC72}"/>
                </a:ext>
              </a:extLst>
            </p:cNvPr>
            <p:cNvSpPr/>
            <p:nvPr/>
          </p:nvSpPr>
          <p:spPr>
            <a:xfrm>
              <a:off x="9116704" y="507014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" name="L alak 5">
              <a:extLst>
                <a:ext uri="{FF2B5EF4-FFF2-40B4-BE49-F238E27FC236}">
                  <a16:creationId xmlns:a16="http://schemas.microsoft.com/office/drawing/2014/main" id="{10BCC19D-215B-6C4D-F259-3FACCE8FEDA7}"/>
                </a:ext>
              </a:extLst>
            </p:cNvPr>
            <p:cNvSpPr/>
            <p:nvPr/>
          </p:nvSpPr>
          <p:spPr>
            <a:xfrm>
              <a:off x="9391024" y="4793774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" name="L alak 6">
              <a:extLst>
                <a:ext uri="{FF2B5EF4-FFF2-40B4-BE49-F238E27FC236}">
                  <a16:creationId xmlns:a16="http://schemas.microsoft.com/office/drawing/2014/main" id="{B2BFA46E-FBF4-F180-42C5-019673EBCC2A}"/>
                </a:ext>
              </a:extLst>
            </p:cNvPr>
            <p:cNvSpPr/>
            <p:nvPr/>
          </p:nvSpPr>
          <p:spPr>
            <a:xfrm>
              <a:off x="9939664" y="424445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L alak 7">
              <a:extLst>
                <a:ext uri="{FF2B5EF4-FFF2-40B4-BE49-F238E27FC236}">
                  <a16:creationId xmlns:a16="http://schemas.microsoft.com/office/drawing/2014/main" id="{3CCA0DED-992A-F74C-9139-985644E2BCFE}"/>
                </a:ext>
              </a:extLst>
            </p:cNvPr>
            <p:cNvSpPr/>
            <p:nvPr/>
          </p:nvSpPr>
          <p:spPr>
            <a:xfrm>
              <a:off x="9665344" y="4517101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" name="Folyamatábra: Bekötés 13">
            <a:extLst>
              <a:ext uri="{FF2B5EF4-FFF2-40B4-BE49-F238E27FC236}">
                <a16:creationId xmlns:a16="http://schemas.microsoft.com/office/drawing/2014/main" id="{CE5AC49D-1E90-3788-CD8B-166280981FEC}"/>
              </a:ext>
            </a:extLst>
          </p:cNvPr>
          <p:cNvSpPr/>
          <p:nvPr/>
        </p:nvSpPr>
        <p:spPr>
          <a:xfrm>
            <a:off x="8250072" y="2172269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Folyamatábra: Bekötés 15">
            <a:extLst>
              <a:ext uri="{FF2B5EF4-FFF2-40B4-BE49-F238E27FC236}">
                <a16:creationId xmlns:a16="http://schemas.microsoft.com/office/drawing/2014/main" id="{CE1508D8-6EA4-E401-6381-30C5A55783AC}"/>
              </a:ext>
            </a:extLst>
          </p:cNvPr>
          <p:cNvSpPr/>
          <p:nvPr/>
        </p:nvSpPr>
        <p:spPr>
          <a:xfrm>
            <a:off x="5497774" y="2172269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Ív 17">
            <a:extLst>
              <a:ext uri="{FF2B5EF4-FFF2-40B4-BE49-F238E27FC236}">
                <a16:creationId xmlns:a16="http://schemas.microsoft.com/office/drawing/2014/main" id="{D2D9332B-C273-51FC-3DDF-1416A2FCB08B}"/>
              </a:ext>
            </a:extLst>
          </p:cNvPr>
          <p:cNvSpPr/>
          <p:nvPr/>
        </p:nvSpPr>
        <p:spPr>
          <a:xfrm rot="8401694">
            <a:off x="2875152" y="-1804239"/>
            <a:ext cx="7185500" cy="6140219"/>
          </a:xfrm>
          <a:prstGeom prst="arc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4057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EABD51-070C-3592-09F6-97F340B2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spc="600" dirty="0">
                <a:solidFill>
                  <a:schemeClr val="bg1"/>
                </a:solidFill>
                <a:latin typeface="Source Sans Pro (Szövegtörzs)"/>
              </a:rPr>
              <a:t>MI AZ A PETRIK BUDI?</a:t>
            </a:r>
            <a:endParaRPr lang="hu-HU" sz="6000" b="1" spc="600" dirty="0">
              <a:solidFill>
                <a:schemeClr val="bg1"/>
              </a:solidFill>
              <a:latin typeface="Source Sans Pro (Szövegtörzs)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C91C33-D8EC-1F2B-27A0-449AEFBA0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Iskolánkban az összes mosdó megvan jelenítve, ezeknek a tulajdonságait az összes diák/tanár szabadon és anonim módon változtathatja bármikor.</a:t>
            </a:r>
          </a:p>
        </p:txBody>
      </p:sp>
      <p:pic>
        <p:nvPicPr>
          <p:cNvPr id="5" name="Kép 4" descr="A képen sor, csilla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2F3FC3A-C15C-8A83-4E39-252FF431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058" y="2669575"/>
            <a:ext cx="5734950" cy="3823300"/>
          </a:xfrm>
          <a:prstGeom prst="rect">
            <a:avLst/>
          </a:prstGeom>
        </p:spPr>
      </p:pic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93BE0D30-819C-F224-AC30-D76003D0765E}"/>
              </a:ext>
            </a:extLst>
          </p:cNvPr>
          <p:cNvSpPr/>
          <p:nvPr/>
        </p:nvSpPr>
        <p:spPr>
          <a:xfrm>
            <a:off x="1061961" y="809542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3B54B198-6C2F-2618-EDFE-02F081CDB5FA}"/>
              </a:ext>
            </a:extLst>
          </p:cNvPr>
          <p:cNvSpPr/>
          <p:nvPr/>
        </p:nvSpPr>
        <p:spPr>
          <a:xfrm>
            <a:off x="10643077" y="809542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9AE757CD-041F-0BE1-C2E4-B9CA1721BE77}"/>
              </a:ext>
            </a:extLst>
          </p:cNvPr>
          <p:cNvGrpSpPr/>
          <p:nvPr/>
        </p:nvGrpSpPr>
        <p:grpSpPr>
          <a:xfrm rot="8049345">
            <a:off x="9151822" y="3433826"/>
            <a:ext cx="2992787" cy="3007679"/>
            <a:chOff x="9116704" y="4244452"/>
            <a:chExt cx="1371600" cy="1378425"/>
          </a:xfrm>
        </p:grpSpPr>
        <p:sp>
          <p:nvSpPr>
            <p:cNvPr id="9" name="L alak 8">
              <a:extLst>
                <a:ext uri="{FF2B5EF4-FFF2-40B4-BE49-F238E27FC236}">
                  <a16:creationId xmlns:a16="http://schemas.microsoft.com/office/drawing/2014/main" id="{ADE07B27-DE07-9124-91D9-0274C53F456E}"/>
                </a:ext>
              </a:extLst>
            </p:cNvPr>
            <p:cNvSpPr/>
            <p:nvPr/>
          </p:nvSpPr>
          <p:spPr>
            <a:xfrm>
              <a:off x="9116704" y="507014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L alak 9">
              <a:extLst>
                <a:ext uri="{FF2B5EF4-FFF2-40B4-BE49-F238E27FC236}">
                  <a16:creationId xmlns:a16="http://schemas.microsoft.com/office/drawing/2014/main" id="{5B04CA1F-1569-91C4-F76C-5D89FD66A5A4}"/>
                </a:ext>
              </a:extLst>
            </p:cNvPr>
            <p:cNvSpPr/>
            <p:nvPr/>
          </p:nvSpPr>
          <p:spPr>
            <a:xfrm>
              <a:off x="9391024" y="4793774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L alak 10">
              <a:extLst>
                <a:ext uri="{FF2B5EF4-FFF2-40B4-BE49-F238E27FC236}">
                  <a16:creationId xmlns:a16="http://schemas.microsoft.com/office/drawing/2014/main" id="{B01AD57A-9645-94A9-C21F-A54BDD7C1196}"/>
                </a:ext>
              </a:extLst>
            </p:cNvPr>
            <p:cNvSpPr/>
            <p:nvPr/>
          </p:nvSpPr>
          <p:spPr>
            <a:xfrm>
              <a:off x="9939664" y="424445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" name="L alak 11">
              <a:extLst>
                <a:ext uri="{FF2B5EF4-FFF2-40B4-BE49-F238E27FC236}">
                  <a16:creationId xmlns:a16="http://schemas.microsoft.com/office/drawing/2014/main" id="{4BFBBB32-D7AF-F8D6-F315-5CDF48D752E2}"/>
                </a:ext>
              </a:extLst>
            </p:cNvPr>
            <p:cNvSpPr/>
            <p:nvPr/>
          </p:nvSpPr>
          <p:spPr>
            <a:xfrm>
              <a:off x="9665344" y="4517101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3" name="Ív 12">
            <a:extLst>
              <a:ext uri="{FF2B5EF4-FFF2-40B4-BE49-F238E27FC236}">
                <a16:creationId xmlns:a16="http://schemas.microsoft.com/office/drawing/2014/main" id="{E0FA8272-46D8-4ADD-106F-A32AE7AFADEC}"/>
              </a:ext>
            </a:extLst>
          </p:cNvPr>
          <p:cNvSpPr/>
          <p:nvPr/>
        </p:nvSpPr>
        <p:spPr>
          <a:xfrm rot="8401694">
            <a:off x="2811676" y="-85684"/>
            <a:ext cx="7185500" cy="6140219"/>
          </a:xfrm>
          <a:prstGeom prst="arc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85688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EABD51-070C-3592-09F6-97F340B2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spc="600" dirty="0">
                <a:solidFill>
                  <a:schemeClr val="bg1"/>
                </a:solidFill>
                <a:latin typeface="Source Sans Pro (Szövegtörzs)"/>
              </a:rPr>
              <a:t>MI</a:t>
            </a:r>
            <a:r>
              <a:rPr lang="hu-HU" sz="6000" b="1" spc="600" dirty="0">
                <a:solidFill>
                  <a:schemeClr val="bg1"/>
                </a:solidFill>
                <a:latin typeface="Source Sans Pro (Szövegtörzs)"/>
              </a:rPr>
              <a:t>ÉRT RELEVÁNS?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C91C33-D8EC-1F2B-27A0-449AEFBA0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6722"/>
            <a:ext cx="10515600" cy="4351338"/>
          </a:xfrm>
        </p:spPr>
        <p:txBody>
          <a:bodyPr>
            <a:normAutofit/>
          </a:bodyPr>
          <a:lstStyle/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A mosdók állapota nagyon gyakran változik.</a:t>
            </a:r>
            <a:endParaRPr lang="en-US" sz="2400" b="1" spc="600" dirty="0">
              <a:solidFill>
                <a:schemeClr val="bg1"/>
              </a:solidFill>
              <a:latin typeface="Source Sans Pro (Szövegtörzs)"/>
            </a:endParaRPr>
          </a:p>
          <a:p>
            <a:endParaRPr lang="en-US" sz="2400" b="1" spc="600" dirty="0">
              <a:solidFill>
                <a:schemeClr val="bg1"/>
              </a:solidFill>
              <a:latin typeface="Source Sans Pro (Szövegtörzs)"/>
            </a:endParaRPr>
          </a:p>
          <a:p>
            <a:pPr marL="0" indent="0">
              <a:buNone/>
            </a:pPr>
            <a:endParaRPr lang="en-US" sz="2400" b="1" spc="600" dirty="0">
              <a:solidFill>
                <a:schemeClr val="bg1"/>
              </a:solidFill>
              <a:latin typeface="Source Sans Pro (Szövegtörzs)"/>
            </a:endParaRP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Kellett egy megoldás, ahol a diákok egymás őszinteségére támaszkodhatnak </a:t>
            </a:r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93BE0D30-819C-F224-AC30-D76003D0765E}"/>
              </a:ext>
            </a:extLst>
          </p:cNvPr>
          <p:cNvSpPr/>
          <p:nvPr/>
        </p:nvSpPr>
        <p:spPr>
          <a:xfrm>
            <a:off x="625232" y="1891156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3B54B198-6C2F-2618-EDFE-02F081CDB5FA}"/>
              </a:ext>
            </a:extLst>
          </p:cNvPr>
          <p:cNvSpPr/>
          <p:nvPr/>
        </p:nvSpPr>
        <p:spPr>
          <a:xfrm>
            <a:off x="603414" y="3210636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9AE757CD-041F-0BE1-C2E4-B9CA1721BE77}"/>
              </a:ext>
            </a:extLst>
          </p:cNvPr>
          <p:cNvGrpSpPr/>
          <p:nvPr/>
        </p:nvGrpSpPr>
        <p:grpSpPr>
          <a:xfrm rot="13535230">
            <a:off x="458951" y="5459394"/>
            <a:ext cx="1371600" cy="1378425"/>
            <a:chOff x="9116704" y="4244452"/>
            <a:chExt cx="1371600" cy="1378425"/>
          </a:xfrm>
        </p:grpSpPr>
        <p:sp>
          <p:nvSpPr>
            <p:cNvPr id="9" name="L alak 8">
              <a:extLst>
                <a:ext uri="{FF2B5EF4-FFF2-40B4-BE49-F238E27FC236}">
                  <a16:creationId xmlns:a16="http://schemas.microsoft.com/office/drawing/2014/main" id="{ADE07B27-DE07-9124-91D9-0274C53F456E}"/>
                </a:ext>
              </a:extLst>
            </p:cNvPr>
            <p:cNvSpPr/>
            <p:nvPr/>
          </p:nvSpPr>
          <p:spPr>
            <a:xfrm>
              <a:off x="9116704" y="507014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L alak 9">
              <a:extLst>
                <a:ext uri="{FF2B5EF4-FFF2-40B4-BE49-F238E27FC236}">
                  <a16:creationId xmlns:a16="http://schemas.microsoft.com/office/drawing/2014/main" id="{5B04CA1F-1569-91C4-F76C-5D89FD66A5A4}"/>
                </a:ext>
              </a:extLst>
            </p:cNvPr>
            <p:cNvSpPr/>
            <p:nvPr/>
          </p:nvSpPr>
          <p:spPr>
            <a:xfrm>
              <a:off x="9391024" y="4793774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L alak 10">
              <a:extLst>
                <a:ext uri="{FF2B5EF4-FFF2-40B4-BE49-F238E27FC236}">
                  <a16:creationId xmlns:a16="http://schemas.microsoft.com/office/drawing/2014/main" id="{B01AD57A-9645-94A9-C21F-A54BDD7C1196}"/>
                </a:ext>
              </a:extLst>
            </p:cNvPr>
            <p:cNvSpPr/>
            <p:nvPr/>
          </p:nvSpPr>
          <p:spPr>
            <a:xfrm>
              <a:off x="9939664" y="424445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" name="L alak 11">
              <a:extLst>
                <a:ext uri="{FF2B5EF4-FFF2-40B4-BE49-F238E27FC236}">
                  <a16:creationId xmlns:a16="http://schemas.microsoft.com/office/drawing/2014/main" id="{4BFBBB32-D7AF-F8D6-F315-5CDF48D752E2}"/>
                </a:ext>
              </a:extLst>
            </p:cNvPr>
            <p:cNvSpPr/>
            <p:nvPr/>
          </p:nvSpPr>
          <p:spPr>
            <a:xfrm>
              <a:off x="9665344" y="4517101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3" name="Ív 12">
            <a:extLst>
              <a:ext uri="{FF2B5EF4-FFF2-40B4-BE49-F238E27FC236}">
                <a16:creationId xmlns:a16="http://schemas.microsoft.com/office/drawing/2014/main" id="{E0FA8272-46D8-4ADD-106F-A32AE7AFADEC}"/>
              </a:ext>
            </a:extLst>
          </p:cNvPr>
          <p:cNvSpPr/>
          <p:nvPr/>
        </p:nvSpPr>
        <p:spPr>
          <a:xfrm rot="3023295">
            <a:off x="4458892" y="-481276"/>
            <a:ext cx="7185500" cy="6140219"/>
          </a:xfrm>
          <a:prstGeom prst="arc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5" name="Kép 14" descr="A képen szimbólum, Betűtípus, embléma, Grafi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728FF38-8789-85CA-A317-A9D6FF15F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944" y="3576737"/>
            <a:ext cx="5121014" cy="341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57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EABD51-070C-3592-09F6-97F340B2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spc="600" dirty="0">
                <a:solidFill>
                  <a:schemeClr val="bg1"/>
                </a:solidFill>
                <a:latin typeface="Source Sans Pro (Szövegtörzs)"/>
              </a:rPr>
              <a:t>TULAJDONS</a:t>
            </a:r>
            <a:r>
              <a:rPr lang="hu-HU" sz="6000" b="1" spc="600" dirty="0">
                <a:solidFill>
                  <a:schemeClr val="bg1"/>
                </a:solidFill>
                <a:latin typeface="Source Sans Pro (Szövegtörzs)"/>
              </a:rPr>
              <a:t>Á</a:t>
            </a:r>
            <a:r>
              <a:rPr lang="en-US" sz="6000" b="1" spc="600" dirty="0">
                <a:solidFill>
                  <a:schemeClr val="bg1"/>
                </a:solidFill>
                <a:latin typeface="Source Sans Pro (Szövegtörzs)"/>
              </a:rPr>
              <a:t>GOK</a:t>
            </a:r>
            <a:endParaRPr lang="hu-HU" sz="6000" b="1" spc="600" dirty="0">
              <a:solidFill>
                <a:schemeClr val="bg1"/>
              </a:solidFill>
              <a:latin typeface="Source Sans Pro (Szövegtörzs)"/>
            </a:endParaRPr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93BE0D30-819C-F224-AC30-D76003D0765E}"/>
              </a:ext>
            </a:extLst>
          </p:cNvPr>
          <p:cNvSpPr/>
          <p:nvPr/>
        </p:nvSpPr>
        <p:spPr>
          <a:xfrm>
            <a:off x="5735497" y="777116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3B54B198-6C2F-2618-EDFE-02F081CDB5FA}"/>
              </a:ext>
            </a:extLst>
          </p:cNvPr>
          <p:cNvSpPr/>
          <p:nvPr/>
        </p:nvSpPr>
        <p:spPr>
          <a:xfrm>
            <a:off x="8486248" y="765857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Ív 12">
            <a:extLst>
              <a:ext uri="{FF2B5EF4-FFF2-40B4-BE49-F238E27FC236}">
                <a16:creationId xmlns:a16="http://schemas.microsoft.com/office/drawing/2014/main" id="{E0FA8272-46D8-4ADD-106F-A32AE7AFADEC}"/>
              </a:ext>
            </a:extLst>
          </p:cNvPr>
          <p:cNvSpPr/>
          <p:nvPr/>
        </p:nvSpPr>
        <p:spPr>
          <a:xfrm rot="8477180">
            <a:off x="4107601" y="-3223822"/>
            <a:ext cx="7185500" cy="6140219"/>
          </a:xfrm>
          <a:prstGeom prst="arc">
            <a:avLst>
              <a:gd name="adj1" fmla="val 15005892"/>
              <a:gd name="adj2" fmla="val 48362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6" name="Kép 15" descr="A képen képernyőkép, szöveg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B94689F-DCD1-0F9D-D2E1-C063D80E4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27" y="2298379"/>
            <a:ext cx="5954138" cy="3969425"/>
          </a:xfrm>
          <a:prstGeom prst="rect">
            <a:avLst/>
          </a:prstGeom>
        </p:spPr>
      </p:pic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CF95D6E0-5E12-3CB8-1F1A-840F71C91FE5}"/>
              </a:ext>
            </a:extLst>
          </p:cNvPr>
          <p:cNvGrpSpPr/>
          <p:nvPr/>
        </p:nvGrpSpPr>
        <p:grpSpPr>
          <a:xfrm rot="13535230">
            <a:off x="10225522" y="5576126"/>
            <a:ext cx="1371600" cy="1378425"/>
            <a:chOff x="9116704" y="4244452"/>
            <a:chExt cx="1371600" cy="1378425"/>
          </a:xfrm>
        </p:grpSpPr>
        <p:sp>
          <p:nvSpPr>
            <p:cNvPr id="18" name="L alak 17">
              <a:extLst>
                <a:ext uri="{FF2B5EF4-FFF2-40B4-BE49-F238E27FC236}">
                  <a16:creationId xmlns:a16="http://schemas.microsoft.com/office/drawing/2014/main" id="{BE55AA45-A984-E5C2-18F9-CC3EA5236FE0}"/>
                </a:ext>
              </a:extLst>
            </p:cNvPr>
            <p:cNvSpPr/>
            <p:nvPr/>
          </p:nvSpPr>
          <p:spPr>
            <a:xfrm>
              <a:off x="9116704" y="507014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L alak 18">
              <a:extLst>
                <a:ext uri="{FF2B5EF4-FFF2-40B4-BE49-F238E27FC236}">
                  <a16:creationId xmlns:a16="http://schemas.microsoft.com/office/drawing/2014/main" id="{000BD4F3-D117-8BE9-DB80-3DF3C624299E}"/>
                </a:ext>
              </a:extLst>
            </p:cNvPr>
            <p:cNvSpPr/>
            <p:nvPr/>
          </p:nvSpPr>
          <p:spPr>
            <a:xfrm>
              <a:off x="9391024" y="4793774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" name="L alak 19">
              <a:extLst>
                <a:ext uri="{FF2B5EF4-FFF2-40B4-BE49-F238E27FC236}">
                  <a16:creationId xmlns:a16="http://schemas.microsoft.com/office/drawing/2014/main" id="{22600D56-DAF6-8928-0159-356472F5FE60}"/>
                </a:ext>
              </a:extLst>
            </p:cNvPr>
            <p:cNvSpPr/>
            <p:nvPr/>
          </p:nvSpPr>
          <p:spPr>
            <a:xfrm>
              <a:off x="9939664" y="424445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L alak 20">
              <a:extLst>
                <a:ext uri="{FF2B5EF4-FFF2-40B4-BE49-F238E27FC236}">
                  <a16:creationId xmlns:a16="http://schemas.microsoft.com/office/drawing/2014/main" id="{860E5962-3D01-3C82-A22D-282E3408DF89}"/>
                </a:ext>
              </a:extLst>
            </p:cNvPr>
            <p:cNvSpPr/>
            <p:nvPr/>
          </p:nvSpPr>
          <p:spPr>
            <a:xfrm>
              <a:off x="9665344" y="4517101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513422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EABD51-070C-3592-09F6-97F340B2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sz="6000" b="1" spc="600" dirty="0">
                <a:solidFill>
                  <a:schemeClr val="bg1"/>
                </a:solidFill>
                <a:latin typeface="Source Sans Pro (Szövegtörzs)"/>
              </a:rPr>
              <a:t>NEHÉZSÉGEK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C91C33-D8EC-1F2B-27A0-449AEFBA0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813" y="1912662"/>
            <a:ext cx="10515600" cy="4351338"/>
          </a:xfrm>
        </p:spPr>
        <p:txBody>
          <a:bodyPr>
            <a:normAutofit/>
          </a:bodyPr>
          <a:lstStyle/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Csak ketten csináltuk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Időbeosztás nem megfelelő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Más kódolási stílusban dolgozunk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Csapatmunka nem megfelelő elosztása</a:t>
            </a:r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93BE0D30-819C-F224-AC30-D76003D0765E}"/>
              </a:ext>
            </a:extLst>
          </p:cNvPr>
          <p:cNvSpPr/>
          <p:nvPr/>
        </p:nvSpPr>
        <p:spPr>
          <a:xfrm>
            <a:off x="1156080" y="6157314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3B54B198-6C2F-2618-EDFE-02F081CDB5FA}"/>
              </a:ext>
            </a:extLst>
          </p:cNvPr>
          <p:cNvSpPr/>
          <p:nvPr/>
        </p:nvSpPr>
        <p:spPr>
          <a:xfrm>
            <a:off x="464084" y="6157314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9AE757CD-041F-0BE1-C2E4-B9CA1721BE77}"/>
              </a:ext>
            </a:extLst>
          </p:cNvPr>
          <p:cNvGrpSpPr/>
          <p:nvPr/>
        </p:nvGrpSpPr>
        <p:grpSpPr>
          <a:xfrm rot="8123861">
            <a:off x="103432" y="2105312"/>
            <a:ext cx="3229709" cy="3245780"/>
            <a:chOff x="9116704" y="4244452"/>
            <a:chExt cx="1371600" cy="1378425"/>
          </a:xfrm>
        </p:grpSpPr>
        <p:sp>
          <p:nvSpPr>
            <p:cNvPr id="9" name="L alak 8">
              <a:extLst>
                <a:ext uri="{FF2B5EF4-FFF2-40B4-BE49-F238E27FC236}">
                  <a16:creationId xmlns:a16="http://schemas.microsoft.com/office/drawing/2014/main" id="{ADE07B27-DE07-9124-91D9-0274C53F456E}"/>
                </a:ext>
              </a:extLst>
            </p:cNvPr>
            <p:cNvSpPr/>
            <p:nvPr/>
          </p:nvSpPr>
          <p:spPr>
            <a:xfrm>
              <a:off x="9116704" y="507014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L alak 9">
              <a:extLst>
                <a:ext uri="{FF2B5EF4-FFF2-40B4-BE49-F238E27FC236}">
                  <a16:creationId xmlns:a16="http://schemas.microsoft.com/office/drawing/2014/main" id="{5B04CA1F-1569-91C4-F76C-5D89FD66A5A4}"/>
                </a:ext>
              </a:extLst>
            </p:cNvPr>
            <p:cNvSpPr/>
            <p:nvPr/>
          </p:nvSpPr>
          <p:spPr>
            <a:xfrm>
              <a:off x="9391024" y="4793774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L alak 10">
              <a:extLst>
                <a:ext uri="{FF2B5EF4-FFF2-40B4-BE49-F238E27FC236}">
                  <a16:creationId xmlns:a16="http://schemas.microsoft.com/office/drawing/2014/main" id="{B01AD57A-9645-94A9-C21F-A54BDD7C1196}"/>
                </a:ext>
              </a:extLst>
            </p:cNvPr>
            <p:cNvSpPr/>
            <p:nvPr/>
          </p:nvSpPr>
          <p:spPr>
            <a:xfrm>
              <a:off x="9939664" y="424445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" name="L alak 11">
              <a:extLst>
                <a:ext uri="{FF2B5EF4-FFF2-40B4-BE49-F238E27FC236}">
                  <a16:creationId xmlns:a16="http://schemas.microsoft.com/office/drawing/2014/main" id="{4BFBBB32-D7AF-F8D6-F315-5CDF48D752E2}"/>
                </a:ext>
              </a:extLst>
            </p:cNvPr>
            <p:cNvSpPr/>
            <p:nvPr/>
          </p:nvSpPr>
          <p:spPr>
            <a:xfrm>
              <a:off x="9665344" y="4517101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3" name="Ív 12">
            <a:extLst>
              <a:ext uri="{FF2B5EF4-FFF2-40B4-BE49-F238E27FC236}">
                <a16:creationId xmlns:a16="http://schemas.microsoft.com/office/drawing/2014/main" id="{E0FA8272-46D8-4ADD-106F-A32AE7AFADEC}"/>
              </a:ext>
            </a:extLst>
          </p:cNvPr>
          <p:cNvSpPr/>
          <p:nvPr/>
        </p:nvSpPr>
        <p:spPr>
          <a:xfrm rot="3023295">
            <a:off x="5285437" y="358891"/>
            <a:ext cx="7185500" cy="6140219"/>
          </a:xfrm>
          <a:prstGeom prst="arc">
            <a:avLst>
              <a:gd name="adj1" fmla="val 16200000"/>
              <a:gd name="adj2" fmla="val 731348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Kép 4" descr="A képen művészet, Grafi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D207D6B-73EF-2146-76EF-27134F891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203" y="3429000"/>
            <a:ext cx="4657117" cy="310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31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Kép 15" descr="A képen képernyőkép, tervezés, írószer, gemkapoc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14A1079-2DAD-6D0C-C758-DAC8C6BFE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2526" y="-946328"/>
            <a:ext cx="16037052" cy="10691368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5EABD51-070C-3592-09F6-97F340B2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sz="6000" b="1" spc="600" dirty="0">
                <a:solidFill>
                  <a:schemeClr val="bg1"/>
                </a:solidFill>
                <a:latin typeface="Source Sans Pro (Szövegtörzs)"/>
              </a:rPr>
              <a:t>TECHNOLÓGIÁK</a:t>
            </a:r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93BE0D30-819C-F224-AC30-D76003D0765E}"/>
              </a:ext>
            </a:extLst>
          </p:cNvPr>
          <p:cNvSpPr/>
          <p:nvPr/>
        </p:nvSpPr>
        <p:spPr>
          <a:xfrm>
            <a:off x="4057489" y="2369692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3B54B198-6C2F-2618-EDFE-02F081CDB5FA}"/>
              </a:ext>
            </a:extLst>
          </p:cNvPr>
          <p:cNvSpPr/>
          <p:nvPr/>
        </p:nvSpPr>
        <p:spPr>
          <a:xfrm>
            <a:off x="4041558" y="3649548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9AE757CD-041F-0BE1-C2E4-B9CA1721BE77}"/>
              </a:ext>
            </a:extLst>
          </p:cNvPr>
          <p:cNvGrpSpPr/>
          <p:nvPr/>
        </p:nvGrpSpPr>
        <p:grpSpPr>
          <a:xfrm rot="8127075">
            <a:off x="8856954" y="2646882"/>
            <a:ext cx="3215297" cy="3231296"/>
            <a:chOff x="9116704" y="4244452"/>
            <a:chExt cx="1371600" cy="1378425"/>
          </a:xfrm>
        </p:grpSpPr>
        <p:sp>
          <p:nvSpPr>
            <p:cNvPr id="9" name="L alak 8">
              <a:extLst>
                <a:ext uri="{FF2B5EF4-FFF2-40B4-BE49-F238E27FC236}">
                  <a16:creationId xmlns:a16="http://schemas.microsoft.com/office/drawing/2014/main" id="{ADE07B27-DE07-9124-91D9-0274C53F456E}"/>
                </a:ext>
              </a:extLst>
            </p:cNvPr>
            <p:cNvSpPr/>
            <p:nvPr/>
          </p:nvSpPr>
          <p:spPr>
            <a:xfrm>
              <a:off x="9116704" y="507014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L alak 9">
              <a:extLst>
                <a:ext uri="{FF2B5EF4-FFF2-40B4-BE49-F238E27FC236}">
                  <a16:creationId xmlns:a16="http://schemas.microsoft.com/office/drawing/2014/main" id="{5B04CA1F-1569-91C4-F76C-5D89FD66A5A4}"/>
                </a:ext>
              </a:extLst>
            </p:cNvPr>
            <p:cNvSpPr/>
            <p:nvPr/>
          </p:nvSpPr>
          <p:spPr>
            <a:xfrm>
              <a:off x="9391024" y="4793774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L alak 10">
              <a:extLst>
                <a:ext uri="{FF2B5EF4-FFF2-40B4-BE49-F238E27FC236}">
                  <a16:creationId xmlns:a16="http://schemas.microsoft.com/office/drawing/2014/main" id="{B01AD57A-9645-94A9-C21F-A54BDD7C1196}"/>
                </a:ext>
              </a:extLst>
            </p:cNvPr>
            <p:cNvSpPr/>
            <p:nvPr/>
          </p:nvSpPr>
          <p:spPr>
            <a:xfrm>
              <a:off x="9939664" y="424445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" name="L alak 11">
              <a:extLst>
                <a:ext uri="{FF2B5EF4-FFF2-40B4-BE49-F238E27FC236}">
                  <a16:creationId xmlns:a16="http://schemas.microsoft.com/office/drawing/2014/main" id="{4BFBBB32-D7AF-F8D6-F315-5CDF48D752E2}"/>
                </a:ext>
              </a:extLst>
            </p:cNvPr>
            <p:cNvSpPr/>
            <p:nvPr/>
          </p:nvSpPr>
          <p:spPr>
            <a:xfrm>
              <a:off x="9665344" y="4517101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3" name="Ív 12">
            <a:extLst>
              <a:ext uri="{FF2B5EF4-FFF2-40B4-BE49-F238E27FC236}">
                <a16:creationId xmlns:a16="http://schemas.microsoft.com/office/drawing/2014/main" id="{E0FA8272-46D8-4ADD-106F-A32AE7AFADEC}"/>
              </a:ext>
            </a:extLst>
          </p:cNvPr>
          <p:cNvSpPr/>
          <p:nvPr/>
        </p:nvSpPr>
        <p:spPr>
          <a:xfrm rot="13731564">
            <a:off x="2421053" y="1329247"/>
            <a:ext cx="7185500" cy="6140219"/>
          </a:xfrm>
          <a:prstGeom prst="arc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Folyamatábra: Bekötés 16">
            <a:extLst>
              <a:ext uri="{FF2B5EF4-FFF2-40B4-BE49-F238E27FC236}">
                <a16:creationId xmlns:a16="http://schemas.microsoft.com/office/drawing/2014/main" id="{C79DD017-D3D0-2798-E4DC-5FC0DD138BA1}"/>
              </a:ext>
            </a:extLst>
          </p:cNvPr>
          <p:cNvSpPr/>
          <p:nvPr/>
        </p:nvSpPr>
        <p:spPr>
          <a:xfrm>
            <a:off x="4041558" y="4917516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52E02AF-B2E6-F866-AE4F-0D3E2E52E793}"/>
              </a:ext>
            </a:extLst>
          </p:cNvPr>
          <p:cNvSpPr txBox="1"/>
          <p:nvPr/>
        </p:nvSpPr>
        <p:spPr>
          <a:xfrm>
            <a:off x="4494217" y="3611128"/>
            <a:ext cx="4224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b="1" spc="600" dirty="0">
                <a:solidFill>
                  <a:schemeClr val="bg1"/>
                </a:solidFill>
                <a:latin typeface="Source Sans Pro (Szövegtörzs)"/>
                <a:ea typeface="+mj-ea"/>
                <a:cs typeface="+mj-cs"/>
              </a:rPr>
              <a:t>FRONTEND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F2024059-A5B8-298D-4207-774A1B6BB641}"/>
              </a:ext>
            </a:extLst>
          </p:cNvPr>
          <p:cNvSpPr txBox="1"/>
          <p:nvPr/>
        </p:nvSpPr>
        <p:spPr>
          <a:xfrm>
            <a:off x="4494217" y="2311057"/>
            <a:ext cx="4224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b="1" spc="600" dirty="0">
                <a:solidFill>
                  <a:schemeClr val="bg1"/>
                </a:solidFill>
                <a:latin typeface="Source Sans Pro (Szövegtörzs)"/>
                <a:ea typeface="+mj-ea"/>
                <a:cs typeface="+mj-cs"/>
              </a:rPr>
              <a:t>VERZIÓKEZELÉS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689ACD9B-788D-CF1A-CFB0-69A2CC608710}"/>
              </a:ext>
            </a:extLst>
          </p:cNvPr>
          <p:cNvSpPr txBox="1"/>
          <p:nvPr/>
        </p:nvSpPr>
        <p:spPr>
          <a:xfrm>
            <a:off x="4494217" y="4853796"/>
            <a:ext cx="4224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b="1" spc="600" dirty="0">
                <a:solidFill>
                  <a:schemeClr val="bg1"/>
                </a:solidFill>
                <a:latin typeface="Source Sans Pro (Szövegtörzs)"/>
                <a:ea typeface="+mj-ea"/>
                <a:cs typeface="+mj-cs"/>
              </a:rPr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795710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EABD51-070C-3592-09F6-97F340B2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sz="6000" b="1" spc="600" dirty="0">
                <a:solidFill>
                  <a:schemeClr val="bg1"/>
                </a:solidFill>
                <a:latin typeface="Source Sans Pro (Szövegtörzs)"/>
              </a:rPr>
              <a:t>KOCKÁZATOK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C91C33-D8EC-1F2B-27A0-449AEFBA0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108" y="2963742"/>
            <a:ext cx="10515600" cy="4351338"/>
          </a:xfrm>
        </p:spPr>
        <p:txBody>
          <a:bodyPr>
            <a:normAutofit/>
          </a:bodyPr>
          <a:lstStyle/>
          <a:p>
            <a:r>
              <a:rPr lang="hu-HU" sz="2400" b="1" spc="600" dirty="0" err="1">
                <a:solidFill>
                  <a:schemeClr val="bg1"/>
                </a:solidFill>
                <a:latin typeface="Source Sans Pro (Szövegtörzs)"/>
              </a:rPr>
              <a:t>Trollok</a:t>
            </a:r>
            <a:endParaRPr lang="hu-HU" sz="2400" b="1" spc="600" dirty="0">
              <a:solidFill>
                <a:schemeClr val="bg1"/>
              </a:solidFill>
              <a:latin typeface="Source Sans Pro (Szövegtörzs)"/>
            </a:endParaRP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Elavult információk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Anonimitás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Teljesen nyilvános adatbázis</a:t>
            </a:r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93BE0D30-819C-F224-AC30-D76003D0765E}"/>
              </a:ext>
            </a:extLst>
          </p:cNvPr>
          <p:cNvSpPr/>
          <p:nvPr/>
        </p:nvSpPr>
        <p:spPr>
          <a:xfrm>
            <a:off x="5258180" y="1652866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3B54B198-6C2F-2618-EDFE-02F081CDB5FA}"/>
              </a:ext>
            </a:extLst>
          </p:cNvPr>
          <p:cNvSpPr/>
          <p:nvPr/>
        </p:nvSpPr>
        <p:spPr>
          <a:xfrm>
            <a:off x="6455642" y="1652866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9AE757CD-041F-0BE1-C2E4-B9CA1721BE77}"/>
              </a:ext>
            </a:extLst>
          </p:cNvPr>
          <p:cNvGrpSpPr/>
          <p:nvPr/>
        </p:nvGrpSpPr>
        <p:grpSpPr>
          <a:xfrm rot="13416468">
            <a:off x="628057" y="4179410"/>
            <a:ext cx="3229709" cy="3245780"/>
            <a:chOff x="9116704" y="4244452"/>
            <a:chExt cx="1371600" cy="1378425"/>
          </a:xfrm>
        </p:grpSpPr>
        <p:sp>
          <p:nvSpPr>
            <p:cNvPr id="9" name="L alak 8">
              <a:extLst>
                <a:ext uri="{FF2B5EF4-FFF2-40B4-BE49-F238E27FC236}">
                  <a16:creationId xmlns:a16="http://schemas.microsoft.com/office/drawing/2014/main" id="{ADE07B27-DE07-9124-91D9-0274C53F456E}"/>
                </a:ext>
              </a:extLst>
            </p:cNvPr>
            <p:cNvSpPr/>
            <p:nvPr/>
          </p:nvSpPr>
          <p:spPr>
            <a:xfrm>
              <a:off x="9116704" y="507014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L alak 9">
              <a:extLst>
                <a:ext uri="{FF2B5EF4-FFF2-40B4-BE49-F238E27FC236}">
                  <a16:creationId xmlns:a16="http://schemas.microsoft.com/office/drawing/2014/main" id="{5B04CA1F-1569-91C4-F76C-5D89FD66A5A4}"/>
                </a:ext>
              </a:extLst>
            </p:cNvPr>
            <p:cNvSpPr/>
            <p:nvPr/>
          </p:nvSpPr>
          <p:spPr>
            <a:xfrm>
              <a:off x="9391024" y="4793774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L alak 10">
              <a:extLst>
                <a:ext uri="{FF2B5EF4-FFF2-40B4-BE49-F238E27FC236}">
                  <a16:creationId xmlns:a16="http://schemas.microsoft.com/office/drawing/2014/main" id="{B01AD57A-9645-94A9-C21F-A54BDD7C1196}"/>
                </a:ext>
              </a:extLst>
            </p:cNvPr>
            <p:cNvSpPr/>
            <p:nvPr/>
          </p:nvSpPr>
          <p:spPr>
            <a:xfrm>
              <a:off x="9939664" y="424445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" name="L alak 11">
              <a:extLst>
                <a:ext uri="{FF2B5EF4-FFF2-40B4-BE49-F238E27FC236}">
                  <a16:creationId xmlns:a16="http://schemas.microsoft.com/office/drawing/2014/main" id="{4BFBBB32-D7AF-F8D6-F315-5CDF48D752E2}"/>
                </a:ext>
              </a:extLst>
            </p:cNvPr>
            <p:cNvSpPr/>
            <p:nvPr/>
          </p:nvSpPr>
          <p:spPr>
            <a:xfrm>
              <a:off x="9665344" y="4517101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3" name="Ív 12">
            <a:extLst>
              <a:ext uri="{FF2B5EF4-FFF2-40B4-BE49-F238E27FC236}">
                <a16:creationId xmlns:a16="http://schemas.microsoft.com/office/drawing/2014/main" id="{E0FA8272-46D8-4ADD-106F-A32AE7AFADEC}"/>
              </a:ext>
            </a:extLst>
          </p:cNvPr>
          <p:cNvSpPr/>
          <p:nvPr/>
        </p:nvSpPr>
        <p:spPr>
          <a:xfrm rot="10582333">
            <a:off x="2503250" y="217204"/>
            <a:ext cx="7185500" cy="6140219"/>
          </a:xfrm>
          <a:prstGeom prst="arc">
            <a:avLst>
              <a:gd name="adj1" fmla="val 4134285"/>
              <a:gd name="adj2" fmla="val 731348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4" name="Kép 13" descr="A képen fekete, háromszö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430160F-0470-BEDB-234D-D0B61ECFE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675" y="556934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546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EABD51-070C-3592-09F6-97F340B2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u-HU" sz="6000" b="1" spc="600" dirty="0">
                <a:solidFill>
                  <a:schemeClr val="bg1"/>
                </a:solidFill>
                <a:latin typeface="Source Sans Pro (Szövegtörzs)"/>
              </a:rPr>
              <a:t>FEJLESZTÉSI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C91C33-D8EC-1F2B-27A0-449AEFBA0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8520" y="2242704"/>
            <a:ext cx="10515600" cy="4351338"/>
          </a:xfrm>
        </p:spPr>
        <p:txBody>
          <a:bodyPr>
            <a:normAutofit/>
          </a:bodyPr>
          <a:lstStyle/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MOBIL APP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KOMPLEXEBB ADATBÁZIS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PRIVÁT ADATBÁZIS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STATISZTIKA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QR KÓD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AUTH</a:t>
            </a:r>
          </a:p>
          <a:p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LOGOLÁS</a:t>
            </a:r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93BE0D30-819C-F224-AC30-D76003D0765E}"/>
              </a:ext>
            </a:extLst>
          </p:cNvPr>
          <p:cNvSpPr/>
          <p:nvPr/>
        </p:nvSpPr>
        <p:spPr>
          <a:xfrm>
            <a:off x="1201837" y="5418801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3B54B198-6C2F-2618-EDFE-02F081CDB5FA}"/>
              </a:ext>
            </a:extLst>
          </p:cNvPr>
          <p:cNvSpPr/>
          <p:nvPr/>
        </p:nvSpPr>
        <p:spPr>
          <a:xfrm>
            <a:off x="765109" y="4838669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9AE757CD-041F-0BE1-C2E4-B9CA1721BE77}"/>
              </a:ext>
            </a:extLst>
          </p:cNvPr>
          <p:cNvGrpSpPr/>
          <p:nvPr/>
        </p:nvGrpSpPr>
        <p:grpSpPr>
          <a:xfrm rot="8123861" flipV="1">
            <a:off x="992318" y="415345"/>
            <a:ext cx="3830527" cy="5528824"/>
            <a:chOff x="9116704" y="4244452"/>
            <a:chExt cx="1371600" cy="1378425"/>
          </a:xfrm>
        </p:grpSpPr>
        <p:sp>
          <p:nvSpPr>
            <p:cNvPr id="9" name="L alak 8">
              <a:extLst>
                <a:ext uri="{FF2B5EF4-FFF2-40B4-BE49-F238E27FC236}">
                  <a16:creationId xmlns:a16="http://schemas.microsoft.com/office/drawing/2014/main" id="{ADE07B27-DE07-9124-91D9-0274C53F456E}"/>
                </a:ext>
              </a:extLst>
            </p:cNvPr>
            <p:cNvSpPr/>
            <p:nvPr/>
          </p:nvSpPr>
          <p:spPr>
            <a:xfrm>
              <a:off x="9116704" y="507014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L alak 9">
              <a:extLst>
                <a:ext uri="{FF2B5EF4-FFF2-40B4-BE49-F238E27FC236}">
                  <a16:creationId xmlns:a16="http://schemas.microsoft.com/office/drawing/2014/main" id="{5B04CA1F-1569-91C4-F76C-5D89FD66A5A4}"/>
                </a:ext>
              </a:extLst>
            </p:cNvPr>
            <p:cNvSpPr/>
            <p:nvPr/>
          </p:nvSpPr>
          <p:spPr>
            <a:xfrm>
              <a:off x="9391024" y="4793774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L alak 10">
              <a:extLst>
                <a:ext uri="{FF2B5EF4-FFF2-40B4-BE49-F238E27FC236}">
                  <a16:creationId xmlns:a16="http://schemas.microsoft.com/office/drawing/2014/main" id="{B01AD57A-9645-94A9-C21F-A54BDD7C1196}"/>
                </a:ext>
              </a:extLst>
            </p:cNvPr>
            <p:cNvSpPr/>
            <p:nvPr/>
          </p:nvSpPr>
          <p:spPr>
            <a:xfrm>
              <a:off x="9939664" y="424445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" name="L alak 11">
              <a:extLst>
                <a:ext uri="{FF2B5EF4-FFF2-40B4-BE49-F238E27FC236}">
                  <a16:creationId xmlns:a16="http://schemas.microsoft.com/office/drawing/2014/main" id="{4BFBBB32-D7AF-F8D6-F315-5CDF48D752E2}"/>
                </a:ext>
              </a:extLst>
            </p:cNvPr>
            <p:cNvSpPr/>
            <p:nvPr/>
          </p:nvSpPr>
          <p:spPr>
            <a:xfrm>
              <a:off x="9665344" y="4517101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3" name="Ív 12">
            <a:extLst>
              <a:ext uri="{FF2B5EF4-FFF2-40B4-BE49-F238E27FC236}">
                <a16:creationId xmlns:a16="http://schemas.microsoft.com/office/drawing/2014/main" id="{E0FA8272-46D8-4ADD-106F-A32AE7AFADEC}"/>
              </a:ext>
            </a:extLst>
          </p:cNvPr>
          <p:cNvSpPr/>
          <p:nvPr/>
        </p:nvSpPr>
        <p:spPr>
          <a:xfrm rot="3023295">
            <a:off x="129237" y="1064759"/>
            <a:ext cx="7185500" cy="6140219"/>
          </a:xfrm>
          <a:prstGeom prst="arc">
            <a:avLst>
              <a:gd name="adj1" fmla="val 4463333"/>
              <a:gd name="adj2" fmla="val 731348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6" name="Kép 15" descr="A képen tervezés, Grafika, szimbólum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638C05B-B33C-3040-2903-D7ABD392A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604" y="4464272"/>
            <a:ext cx="2221577" cy="239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7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EABD51-070C-3592-09F6-97F340B2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sz="6000" b="1" spc="600" dirty="0">
                <a:solidFill>
                  <a:schemeClr val="bg1"/>
                </a:solidFill>
                <a:latin typeface="Source Sans Pro (Szövegtörzs)"/>
              </a:rPr>
              <a:t>ÖSSZEFOGLALÁS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C91C33-D8EC-1F2B-27A0-449AEFBA0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b="1" spc="600" dirty="0">
                <a:solidFill>
                  <a:schemeClr val="bg1"/>
                </a:solidFill>
                <a:latin typeface="Source Sans Pro (Szövegtörzs)"/>
              </a:rPr>
              <a:t>A Petrik Budi valós megoldást nyújthat egy valós problémára. Nincs teljesen készen, sok fejlesztésre van szükség, de ehhez több idő, több tervezés, több ember kell. </a:t>
            </a:r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93BE0D30-819C-F224-AC30-D76003D0765E}"/>
              </a:ext>
            </a:extLst>
          </p:cNvPr>
          <p:cNvSpPr/>
          <p:nvPr/>
        </p:nvSpPr>
        <p:spPr>
          <a:xfrm>
            <a:off x="1061961" y="809542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3B54B198-6C2F-2618-EDFE-02F081CDB5FA}"/>
              </a:ext>
            </a:extLst>
          </p:cNvPr>
          <p:cNvSpPr/>
          <p:nvPr/>
        </p:nvSpPr>
        <p:spPr>
          <a:xfrm>
            <a:off x="10643077" y="809542"/>
            <a:ext cx="436728" cy="436728"/>
          </a:xfrm>
          <a:prstGeom prst="flowChartConnector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9AE757CD-041F-0BE1-C2E4-B9CA1721BE77}"/>
              </a:ext>
            </a:extLst>
          </p:cNvPr>
          <p:cNvGrpSpPr/>
          <p:nvPr/>
        </p:nvGrpSpPr>
        <p:grpSpPr>
          <a:xfrm rot="8049345">
            <a:off x="9146683" y="3710746"/>
            <a:ext cx="2992787" cy="3007679"/>
            <a:chOff x="9116704" y="4244452"/>
            <a:chExt cx="1371600" cy="1378425"/>
          </a:xfrm>
        </p:grpSpPr>
        <p:sp>
          <p:nvSpPr>
            <p:cNvPr id="9" name="L alak 8">
              <a:extLst>
                <a:ext uri="{FF2B5EF4-FFF2-40B4-BE49-F238E27FC236}">
                  <a16:creationId xmlns:a16="http://schemas.microsoft.com/office/drawing/2014/main" id="{ADE07B27-DE07-9124-91D9-0274C53F456E}"/>
                </a:ext>
              </a:extLst>
            </p:cNvPr>
            <p:cNvSpPr/>
            <p:nvPr/>
          </p:nvSpPr>
          <p:spPr>
            <a:xfrm>
              <a:off x="9116704" y="507014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L alak 9">
              <a:extLst>
                <a:ext uri="{FF2B5EF4-FFF2-40B4-BE49-F238E27FC236}">
                  <a16:creationId xmlns:a16="http://schemas.microsoft.com/office/drawing/2014/main" id="{5B04CA1F-1569-91C4-F76C-5D89FD66A5A4}"/>
                </a:ext>
              </a:extLst>
            </p:cNvPr>
            <p:cNvSpPr/>
            <p:nvPr/>
          </p:nvSpPr>
          <p:spPr>
            <a:xfrm>
              <a:off x="9391024" y="4793774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L alak 10">
              <a:extLst>
                <a:ext uri="{FF2B5EF4-FFF2-40B4-BE49-F238E27FC236}">
                  <a16:creationId xmlns:a16="http://schemas.microsoft.com/office/drawing/2014/main" id="{B01AD57A-9645-94A9-C21F-A54BDD7C1196}"/>
                </a:ext>
              </a:extLst>
            </p:cNvPr>
            <p:cNvSpPr/>
            <p:nvPr/>
          </p:nvSpPr>
          <p:spPr>
            <a:xfrm>
              <a:off x="9939664" y="4244452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" name="L alak 11">
              <a:extLst>
                <a:ext uri="{FF2B5EF4-FFF2-40B4-BE49-F238E27FC236}">
                  <a16:creationId xmlns:a16="http://schemas.microsoft.com/office/drawing/2014/main" id="{4BFBBB32-D7AF-F8D6-F315-5CDF48D752E2}"/>
                </a:ext>
              </a:extLst>
            </p:cNvPr>
            <p:cNvSpPr/>
            <p:nvPr/>
          </p:nvSpPr>
          <p:spPr>
            <a:xfrm>
              <a:off x="9665344" y="4517101"/>
              <a:ext cx="548640" cy="552735"/>
            </a:xfrm>
            <a:prstGeom prst="corner">
              <a:avLst>
                <a:gd name="adj1" fmla="val 22000"/>
                <a:gd name="adj2" fmla="val 22000"/>
              </a:avLst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3" name="Ív 12">
            <a:extLst>
              <a:ext uri="{FF2B5EF4-FFF2-40B4-BE49-F238E27FC236}">
                <a16:creationId xmlns:a16="http://schemas.microsoft.com/office/drawing/2014/main" id="{E0FA8272-46D8-4ADD-106F-A32AE7AFADEC}"/>
              </a:ext>
            </a:extLst>
          </p:cNvPr>
          <p:cNvSpPr/>
          <p:nvPr/>
        </p:nvSpPr>
        <p:spPr>
          <a:xfrm rot="8401694">
            <a:off x="2811676" y="-85684"/>
            <a:ext cx="7185500" cy="6140219"/>
          </a:xfrm>
          <a:prstGeom prst="arc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4" name="Kép 13" descr="A képen Grafika, Betűtípus, szimbólum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252B2AC-A0BD-FC73-4E7E-4D86A00C2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719" y="2984425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96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136</Words>
  <Application>Microsoft Office PowerPoint</Application>
  <PresentationFormat>Szélesvásznú</PresentationFormat>
  <Paragraphs>37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Source Sans Pro (Szövegtörzs)</vt:lpstr>
      <vt:lpstr>Source Sans Pro (Szövegtörzs)Source Sans Pro (Szövegtörzs)</vt:lpstr>
      <vt:lpstr>Office-téma</vt:lpstr>
      <vt:lpstr>PETRIK BUDI</vt:lpstr>
      <vt:lpstr>MI AZ A PETRIK BUDI?</vt:lpstr>
      <vt:lpstr>MIÉRT RELEVÁNS?</vt:lpstr>
      <vt:lpstr>TULAJDONSÁGOK</vt:lpstr>
      <vt:lpstr>NEHÉZSÉGEK</vt:lpstr>
      <vt:lpstr>TECHNOLÓGIÁK</vt:lpstr>
      <vt:lpstr>KOCKÁZATOK</vt:lpstr>
      <vt:lpstr>FEJLESZTÉSI LEHETŐSÉGEK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leventerastovits@gmail.com</dc:creator>
  <cp:lastModifiedBy>leventerastovits@gmail.com</cp:lastModifiedBy>
  <cp:revision>3</cp:revision>
  <dcterms:created xsi:type="dcterms:W3CDTF">2026-01-21T16:25:23Z</dcterms:created>
  <dcterms:modified xsi:type="dcterms:W3CDTF">2026-01-21T18:57:13Z</dcterms:modified>
</cp:coreProperties>
</file>